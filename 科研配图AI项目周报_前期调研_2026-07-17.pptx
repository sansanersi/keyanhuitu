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58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6309360" y="-182880"/>
            <a:ext cx="3200400" cy="5486400"/>
          </a:xfrm>
          <a:prstGeom prst="rect">
            <a:avLst/>
          </a:prstGeom>
          <a:solidFill>
            <a:srgbClr val="2D5B88">
              <a:alpha val="86000"/>
            </a:srgbClr>
          </a:solidFill>
          <a:ln w="12700">
            <a:solidFill>
              <a:srgbClr val="2D5B8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600000">
            <a:off x="7178040" y="-320040"/>
            <a:ext cx="1737360" cy="5669280"/>
          </a:xfrm>
          <a:prstGeom prst="rect">
            <a:avLst/>
          </a:prstGeom>
          <a:solidFill>
            <a:srgbClr val="2F7C82">
              <a:alpha val="72000"/>
            </a:srgbClr>
          </a:solidFill>
          <a:ln w="12700">
            <a:solidFill>
              <a:srgbClr val="2F7C82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05156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科研配图 AI 系统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1572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4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项目周报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9933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前期调研、阶段成果与后续方向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2D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当前状态：项目尚未进入正式开发，但已完成前期资料梳理、路线分析和启动方案设计。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335584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时间：2026.07.17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06440" y="10972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D7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本次汇报重点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1353312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目前已经完成了哪些前期工作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已形成了哪些关键判断和阶段结论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后续准备按什么技术路线推进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下一阶段准备先启动哪些工作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40080" y="435254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80" dirty="0">
                <a:solidFill>
                  <a:schemeClr val="bg1"/>
                </a:solidFill>
              </a:rPr>
              <a:t>梁高政、覃社华</a:t>
            </a:r>
            <a:endParaRPr lang="en-US" sz="98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58200" y="45902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项目当前状态与阶段结论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现阶段重点是向老师汇报：我们已经做了什么、目前判断是什么、下一步准备怎么推进。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2514600" cy="1225296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6362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37944"/>
            <a:ext cx="220370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建设一个把科研配图需求文本逐步转换为可编辑 SVG 配图的智能系统，兼顾科学正确性、结构清晰性和后续可修改性。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3227832" y="1417320"/>
            <a:ext cx="2103120" cy="1225296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92424" y="15636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当前阶段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92424" y="1837944"/>
            <a:ext cx="17922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尚未正式开工，当前处于前期调研、路线判断和实施准备阶段，重点是把项目目标、路径和启动顺序判断清楚。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5477256" y="1417320"/>
            <a:ext cx="3072384" cy="1225296"/>
          </a:xfrm>
          <a:prstGeom prst="rect">
            <a:avLst/>
          </a:prstGeom>
          <a:solidFill>
            <a:srgbClr val="F8F1E4"/>
          </a:solidFill>
          <a:ln w="12700">
            <a:solidFill>
              <a:srgbClr val="F8F1E4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41848" y="1563624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阶段结论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41848" y="1837944"/>
            <a:ext cx="27614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已经明确推荐以多阶段 Pipeline 为核心推进，而不是直接做端到端文生图；下一阶段可进入基础设施和 MVP 闭环搭建。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66928" y="2834640"/>
            <a:ext cx="38404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3017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现阶段已经回答的三个核心问题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" y="33284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804672" y="336499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项目目标和场景边界是什么</a:t>
            </a:r>
            <a:endParaRPr lang="en-US" sz="1140" dirty="0"/>
          </a:p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为什么不建议直接走端到端生成</a:t>
            </a:r>
            <a:endParaRPr lang="en-US" sz="1140" dirty="0"/>
          </a:p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项目应该按什么顺序启动建设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4645152" y="2834640"/>
            <a:ext cx="388620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0175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当前阶段判断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3284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4882896" y="336499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项目可行，且适合先从生物学科切入</a:t>
            </a:r>
            <a:endParaRPr lang="en-US" sz="1140" dirty="0"/>
          </a:p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短期应优先搭结构和闭环，而不是追求最终效果</a:t>
            </a:r>
            <a:endParaRPr lang="en-US" sz="1140" dirty="0"/>
          </a:p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下一阶段可以正式进入基础设施搭建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566928" y="455371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阶段判断：已经完成启动前的关键思考，下一步可以进入可开发骨架搭建。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58200" y="45902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目前已完成的前期工作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当前虽然还没进入编码阶段，但已经完成了项目启动前最关键的一轮资料梳理、方向分析和路线归纳。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18470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520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资料收集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911096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已收集并阅读项目实现方案、关键技术综述和科研绘图算法知识库，基本覆盖工程思路、算法选型和应用场景分析三条线。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615184" y="1371600"/>
            <a:ext cx="18470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16352" y="160020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路线梳理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16352" y="1911096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已完成从问题背景、方法选择、技术模块划分到阶段推进路径的初步梳理，并形成统一叙事逻辑。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8470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160020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文档产出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64608" y="1911096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已形成项目开发线路图汇报稿、阶段思路整理稿、周报 PPT 和可继续修改的脚本化生成材料。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711696" y="1371600"/>
            <a:ext cx="18470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12864" y="160020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阶段判断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12864" y="1911096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已明确项目当前最合理的启动方式是先做 MVP 闭环，再逐步增加知识增强、识别和视觉优化模块。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66928" y="3621024"/>
            <a:ext cx="7973568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8039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本周已经形成的直接成果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04164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完成了项目核心问题和目标边界的定义</a:t>
            </a:r>
            <a:endParaRPr lang="en-US" sz="1140" dirty="0"/>
          </a:p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完成了全局技术路线与阶段顺序的初判</a:t>
            </a:r>
            <a:endParaRPr lang="en-US" sz="1140" dirty="0"/>
          </a:p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完成了后续可执行启动路径的拆解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4718304" y="40416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为下一步真正进入开发阶段提供了明确依据</a:t>
            </a:r>
            <a:endParaRPr lang="en-US" sz="1140" dirty="0"/>
          </a:p>
          <a:p>
            <a:pPr marL="342900" indent="-342900">
              <a:buSzPct val="100000"/>
              <a:buChar char="•"/>
            </a:pPr>
            <a:r>
              <a:rPr lang="en-US" sz="114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为后续与老师继续讨论方案提供了清晰材料基础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8458200" y="45902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JUDGMENT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目前已形成的关键判断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在资料梳理基础上，我们已经对项目方法选择、系统边界和研发优先级形成了比较明确的初步判断。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3822192" cy="2560320"/>
          </a:xfrm>
          <a:prstGeom prst="rect">
            <a:avLst/>
          </a:prstGeom>
          <a:solidFill>
            <a:srgbClr val="20314A"/>
          </a:solidFill>
          <a:ln w="12700">
            <a:solidFill>
              <a:srgbClr val="2031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91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为什么不建议直接走端到端文生图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29992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科学正确性不可控，容易“看起来像对的”但细节有误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输出大多是位图，后期难以局部修改和复用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一旦结果有问题，难以判断错误出在哪个环节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不利于模板、规则和知识资产的持续沉淀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645152" y="1371600"/>
            <a:ext cx="3886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5910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为什么推荐多阶段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56048" y="1965960"/>
            <a:ext cx="30175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中间结构可检查：需求、元素、布局都能单独审视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错误可定位：哪个模块有问题就修哪个模块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输出可编辑：最终目标是元素级 SVG 而不是位图</a:t>
            </a:r>
            <a:endParaRPr lang="en-US" sz="1130" dirty="0"/>
          </a:p>
          <a:p>
            <a:pPr marL="342900" indent="-342900">
              <a:buSzPct val="100000"/>
              <a:buChar char="•"/>
            </a:pPr>
            <a:r>
              <a:rPr lang="en-US" sz="11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资产可积累：模板库、知识库、规则库可长期复用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66928" y="4151376"/>
            <a:ext cx="7973568" cy="457200"/>
          </a:xfrm>
          <a:prstGeom prst="rect">
            <a:avLst/>
          </a:prstGeom>
          <a:solidFill>
            <a:srgbClr val="2D5B88"/>
          </a:solidFill>
          <a:ln w="12700">
            <a:solidFill>
              <a:srgbClr val="2D5B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88536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关键判断：对当前阶段而言，“多阶段可控生成”比“端到端一次性出图”更符合科研配图场景。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58200" y="45902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ROUTE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技术路线总览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技术路线分成“先做 MVP 的基础链路”和“后续逐步增强的能力模块”两层来推进，保证先可用、再做强。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66928" y="1389888"/>
            <a:ext cx="3822192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6276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基础链路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938528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需求解析：LLM + Prompt + Pydantic Schema，将文本转为 DrawingPlan</a:t>
            </a:r>
            <a:endParaRPr lang="en-US" sz="1030" dirty="0"/>
          </a:p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元素生成：SVG 模板库 + 元数据检索，先覆盖高频科研元素</a:t>
            </a:r>
            <a:endParaRPr lang="en-US" sz="1030" dirty="0"/>
          </a:p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布局规划：规则引擎，根据 flowchart / hierarchy / comparison / cycle 自动排版</a:t>
            </a:r>
            <a:endParaRPr lang="en-US" sz="1030" dirty="0"/>
          </a:p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组装：元素、连线、标注统一合成，输出可编辑 SVG</a:t>
            </a:r>
            <a:endParaRPr lang="en-US" sz="1030" dirty="0"/>
          </a:p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质量校验：在 MVP 阶段先验证结构完整性、SVG 合法性和布局可读性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645152" y="1389888"/>
            <a:ext cx="3886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64608" y="16276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后续增强模块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19472" y="1938528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知识增强：RAG + 向量检索，补专业术语、元素和关系理解</a:t>
            </a:r>
            <a:endParaRPr lang="en-US" sz="1030" dirty="0"/>
          </a:p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元素识别：Grounding DINO + SAM2，用于逆向识别和校验</a:t>
            </a:r>
            <a:endParaRPr lang="en-US" sz="1030" dirty="0"/>
          </a:p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复杂布局：VLM 辅助自由构图或复杂关系布局</a:t>
            </a:r>
            <a:endParaRPr lang="en-US" sz="1030" dirty="0"/>
          </a:p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视觉增强：ControlNet / Diffusion 做后续着色和风格统一</a:t>
            </a:r>
            <a:endParaRPr lang="en-US" sz="1030" dirty="0"/>
          </a:p>
          <a:p>
            <a:pPr marL="342900" indent="-342900">
              <a:buSzPct val="100000"/>
              <a:buChar char="•"/>
            </a:pPr>
            <a:r>
              <a:rPr lang="en-US" sz="103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评估体系：逐步加入元素完整性、布局合理性和可编辑性评价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66928" y="4206240"/>
            <a:ext cx="7973568" cy="384048"/>
          </a:xfrm>
          <a:prstGeom prst="rect">
            <a:avLst/>
          </a:prstGeom>
          <a:solidFill>
            <a:srgbClr val="162235"/>
          </a:solidFill>
          <a:ln w="12700">
            <a:solidFill>
              <a:srgbClr val="162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4325112"/>
            <a:ext cx="7360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核心技术主线：LLM 负责理解需求，模板与规则负责保证可控性，视觉模型和检索模块负责后续增强。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8458200" y="45902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开发路线与阶段里程碑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开发路线按“先基础、后闭环、再增强”的顺序推进，每一阶段都有明确目标、产出和承接关系。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828800" cy="2487168"/>
          </a:xfrm>
          <a:prstGeom prst="rect">
            <a:avLst/>
          </a:prstGeom>
          <a:solidFill>
            <a:srgbClr val="EAF1F8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910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517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项目骨架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 Schema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客户端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测试与样例目录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560320" y="1335024"/>
            <a:ext cx="1993392" cy="2487168"/>
          </a:xfrm>
          <a:prstGeom prst="rect">
            <a:avLst/>
          </a:prstGeom>
          <a:solidFill>
            <a:srgbClr val="EAF5F4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5910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24912" y="18745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闭环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2724912" y="2359152"/>
            <a:ext cx="16824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需求解析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模板元素库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规则布局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合成示例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718304" y="1335024"/>
            <a:ext cx="18288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5910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82896" y="18745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增强能力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882896" y="2359152"/>
            <a:ext cx="1517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知识增强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生成兜底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元素识别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复杂布局推理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711696" y="1335024"/>
            <a:ext cx="1828800" cy="2487168"/>
          </a:xfrm>
          <a:prstGeom prst="rect">
            <a:avLst/>
          </a:prstGeom>
          <a:solidFill>
            <a:srgbClr val="F2EFFA"/>
          </a:solidFill>
          <a:ln w="12700">
            <a:solidFill>
              <a:srgbClr val="D9E1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15910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76288" y="187452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高级拓展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876288" y="2359152"/>
            <a:ext cx="151790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扩散着色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评测基准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66928" y="38770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阶段目标、预期产出与近期排期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7955280" cy="0"/>
          </a:xfrm>
          <a:prstGeom prst="line">
            <a:avLst/>
          </a:prstGeom>
          <a:noFill/>
          <a:ln w="1397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407408"/>
            <a:ext cx="233172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622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55371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1-2 周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1371600" y="44805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完成项目骨架、Schema、LLM 客户端和测试骨架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3383280" y="4407408"/>
            <a:ext cx="233172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622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455371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3-5 周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4114800" y="44805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跑通需求解析、模板元素、规则布局和 SVG 合成闭环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126480" y="4407408"/>
            <a:ext cx="2331720" cy="457200"/>
          </a:xfrm>
          <a:prstGeom prst="rect">
            <a:avLst/>
          </a:prstGeom>
          <a:solidFill>
            <a:srgbClr val="162235"/>
          </a:solidFill>
          <a:ln w="12700">
            <a:solidFill>
              <a:srgbClr val="1622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55371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6-8 周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6858000" y="44805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 RAG、识别与评估能力，逐步提升精度和扩展性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8458200" y="45902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30" dirty="0">
                <a:solidFill>
                  <a:srgbClr val="2F7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21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本周具体产出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66928" y="93268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从“看资料”到“形成阶段产出”，本周已经沉淀出后续能直接使用的判断、文档和启动思路。</a:t>
            </a:r>
            <a:endParaRPr lang="en-US" sz="118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377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资料输入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93852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04672" y="1975104"/>
            <a:ext cx="17373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阅读项目实现方案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阅读关键技术综述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阅读科研绘图算法知识库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交叉比对工程路径和算法路线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汇总不同资料中的共同结论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377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本周产出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1568" y="193852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38144" y="1975104"/>
            <a:ext cx="175564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项目开发线路图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阶段推进逻辑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边界定义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推荐排期与启动建议</a:t>
            </a:r>
            <a:endParaRPr lang="en-US" sz="1080" dirty="0"/>
          </a:p>
          <a:p>
            <a:pPr marL="342900" indent="-342900">
              <a:buSzPct val="100000"/>
              <a:buChar char="•"/>
            </a:pPr>
            <a:r>
              <a:rPr lang="en-US" sz="108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老师汇报版周报材料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833872" y="1371600"/>
            <a:ext cx="2697480" cy="2286000"/>
          </a:xfrm>
          <a:prstGeom prst="rect">
            <a:avLst/>
          </a:prstGeom>
          <a:solidFill>
            <a:srgbClr val="20314A"/>
          </a:solidFill>
          <a:ln w="12700">
            <a:solidFill>
              <a:srgbClr val="2031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3328" y="1664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本周最重要的产出，不是代码，而是判断。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71616" y="2340864"/>
            <a:ext cx="2029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DCE7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已经把“项目目标、方法选择、阶段顺序、下一步动作”四个关键问题讲清楚，后续可以更稳地进入实施阶段。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66928" y="3895344"/>
            <a:ext cx="7955280" cy="603504"/>
          </a:xfrm>
          <a:prstGeom prst="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096512"/>
            <a:ext cx="7315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本周阶段性成果可以概括为：项目虽未开工，但已经完成了从“想做”到“知道怎么启动做”的转变。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458200" y="45902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949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下一阶段计划与当前建议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dirty="0">
                <a:solidFill>
                  <a:srgbClr val="D3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方向已经明确。下一阶段重点不是“多做功能”，而是把方案真正落成一个可启动开发的工程骨架。</a:t>
            </a:r>
            <a:endParaRPr lang="en-US" sz="126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3611880" cy="2249424"/>
          </a:xfrm>
          <a:prstGeom prst="rect">
            <a:avLst/>
          </a:prstGeom>
          <a:solidFill>
            <a:srgbClr val="223652"/>
          </a:solidFill>
          <a:ln w="12700">
            <a:solidFill>
              <a:srgbClr val="2236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9933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当前判断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322576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项目方向正确，但还未进入工程实施阶段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短期最重要的是先搭结构和闭环，而不是追求最终效果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如果一开始就做“万能生成”，后续容易失控且难验证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当前最合适的目标是先让系统跑通，再谈复杂增强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572000" y="1755648"/>
            <a:ext cx="3675888" cy="22494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9933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下一阶段准备启动的工作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322576"/>
            <a:ext cx="28803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搭建项目目录与基础依赖，正式进入 Phase 0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 Schema、LLM 解析器原型和 1 个最小示例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从生物学科切入，建设首批高频模板元素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3B4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同步准备可用于后续测试和展示的示例案例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40080" y="4315968"/>
            <a:ext cx="7818120" cy="0"/>
          </a:xfrm>
          <a:prstGeom prst="line">
            <a:avLst/>
          </a:prstGeom>
          <a:noFill/>
          <a:ln w="12700">
            <a:solidFill>
              <a:srgbClr val="5A6B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44805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一句话汇报口径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445312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本周已完成前期调研和路线分析，明确应以多阶段 Pipeline 为核心推进；项目尚未正式开工，下一阶段建议进入基础设施和 MVP 闭环搭建。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8458200" y="45902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全屏显示(16:9)</PresentationFormat>
  <Paragraphs>158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科研配图 AI 系统项目周报（前期调研）</dc:title>
  <dc:subject>科研配图 AI 系统项目周报</dc:subject>
  <dc:creator>OpenAI Codex</dc:creator>
  <cp:lastModifiedBy>gz l</cp:lastModifiedBy>
  <cp:revision>2</cp:revision>
  <dcterms:created xsi:type="dcterms:W3CDTF">2026-07-17T15:27:47Z</dcterms:created>
  <dcterms:modified xsi:type="dcterms:W3CDTF">2026-07-18T03:16:15Z</dcterms:modified>
</cp:coreProperties>
</file>